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5143500" cx="9144000"/>
  <p:notesSz cx="6858000" cy="9144000"/>
  <p:embeddedFontLst>
    <p:embeddedFont>
      <p:font typeface="Staatliches"/>
      <p:regular r:id="rId35"/>
    </p:embeddedFont>
    <p:embeddedFont>
      <p:font typeface="Roboto"/>
      <p:regular r:id="rId36"/>
      <p:bold r:id="rId37"/>
      <p:italic r:id="rId38"/>
      <p:boldItalic r:id="rId39"/>
    </p:embeddedFont>
    <p:embeddedFont>
      <p:font typeface="Oswald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swald-regular.fntdata"/><Relationship Id="rId20" Type="http://schemas.openxmlformats.org/officeDocument/2006/relationships/slide" Target="slides/slide16.xml"/><Relationship Id="rId41" Type="http://schemas.openxmlformats.org/officeDocument/2006/relationships/font" Target="fonts/Oswald-bold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Staatliches-regular.fnt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Roboto-bold.fntdata"/><Relationship Id="rId14" Type="http://schemas.openxmlformats.org/officeDocument/2006/relationships/slide" Target="slides/slide10.xml"/><Relationship Id="rId36" Type="http://schemas.openxmlformats.org/officeDocument/2006/relationships/font" Target="fonts/Roboto-regular.fntdata"/><Relationship Id="rId17" Type="http://schemas.openxmlformats.org/officeDocument/2006/relationships/slide" Target="slides/slide13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2.xml"/><Relationship Id="rId38" Type="http://schemas.openxmlformats.org/officeDocument/2006/relationships/font" Target="fonts/Roboto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65a553ef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65a553ef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65a553ef2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65a553ef2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5e87bd5c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55e87bd5c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5e87bd5cb_5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55e87bd5cb_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65a553ef2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65a553ef2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65a553ef2e_0_7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65a553ef2e_0_7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707cc8f7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707cc8f7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5e87bd5cb_1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55e87bd5cb_1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65ab82ad2b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65ab82ad2b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5e87bd5cb_1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55e87bd5cb_1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65a553ef2e_0_8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65a553ef2e_0_8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5e87bd5cb_1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5e87bd5cb_1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55e87bd5cb_1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55e87bd5cb_1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5e87bd5cb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55e87bd5cb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5e87bd5cb_6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55e87bd5cb_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55e87bd5cb_1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55e87bd5cb_1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65a553ef2e_0_7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65a553ef2e_0_7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55e87bd5cb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55e87bd5cb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5e87bd5cb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5e87bd5cb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5e87bd5cb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5e87bd5cb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5e87bd5cb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55e87bd5cb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55e87bd5cb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55e87bd5cb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55e87bd5cb_1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55e87bd5cb_1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55e87bd5cb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55e87bd5cb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55e87bd5cb_1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55e87bd5cb_1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5e87bd5cb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5e87bd5cb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55e87bd5cb_1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55e87bd5cb_1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55e87bd5cb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55e87bd5cb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55e87bd5cb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55e87bd5cb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559250" y="1241550"/>
            <a:ext cx="60255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675950" y="3377250"/>
            <a:ext cx="5792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2152200" y="2723225"/>
            <a:ext cx="483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950300" y="1178125"/>
            <a:ext cx="52434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549400" y="3396937"/>
            <a:ext cx="40452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2989050" y="2124150"/>
            <a:ext cx="3165900" cy="12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4297658" y="46129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" type="body"/>
          </p:nvPr>
        </p:nvSpPr>
        <p:spPr>
          <a:xfrm>
            <a:off x="1678738" y="885300"/>
            <a:ext cx="322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5326961" y="885300"/>
            <a:ext cx="322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3" name="Google Shape;23;p5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6" name="Google Shape;26;p6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idx="1" type="body"/>
          </p:nvPr>
        </p:nvSpPr>
        <p:spPr>
          <a:xfrm>
            <a:off x="4869600" y="1731150"/>
            <a:ext cx="3019800" cy="16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0" name="Google Shape;30;p7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8"/>
          <p:cNvGrpSpPr/>
          <p:nvPr/>
        </p:nvGrpSpPr>
        <p:grpSpPr>
          <a:xfrm>
            <a:off x="-1176142" y="-883393"/>
            <a:ext cx="11626011" cy="6755492"/>
            <a:chOff x="238125" y="783925"/>
            <a:chExt cx="7127275" cy="4141425"/>
          </a:xfrm>
        </p:grpSpPr>
        <p:sp>
          <p:nvSpPr>
            <p:cNvPr id="33" name="Google Shape;33;p8"/>
            <p:cNvSpPr/>
            <p:nvPr/>
          </p:nvSpPr>
          <p:spPr>
            <a:xfrm>
              <a:off x="238125" y="2990775"/>
              <a:ext cx="2218000" cy="1934575"/>
            </a:xfrm>
            <a:custGeom>
              <a:rect b="b" l="l" r="r" t="t"/>
              <a:pathLst>
                <a:path extrusionOk="0" h="77383" w="88720">
                  <a:moveTo>
                    <a:pt x="28020" y="1"/>
                  </a:moveTo>
                  <a:cubicBezTo>
                    <a:pt x="11294" y="1"/>
                    <a:pt x="0" y="39029"/>
                    <a:pt x="0" y="49219"/>
                  </a:cubicBezTo>
                  <a:cubicBezTo>
                    <a:pt x="0" y="69098"/>
                    <a:pt x="22760" y="77383"/>
                    <a:pt x="37752" y="77383"/>
                  </a:cubicBezTo>
                  <a:cubicBezTo>
                    <a:pt x="37781" y="77383"/>
                    <a:pt x="88719" y="73054"/>
                    <a:pt x="88719" y="67651"/>
                  </a:cubicBezTo>
                  <a:cubicBezTo>
                    <a:pt x="88719" y="67393"/>
                    <a:pt x="88690" y="67121"/>
                    <a:pt x="88633" y="66848"/>
                  </a:cubicBezTo>
                  <a:cubicBezTo>
                    <a:pt x="82957" y="64641"/>
                    <a:pt x="81252" y="61416"/>
                    <a:pt x="81252" y="57690"/>
                  </a:cubicBezTo>
                  <a:cubicBezTo>
                    <a:pt x="81252" y="51813"/>
                    <a:pt x="85150" y="45751"/>
                    <a:pt x="85150" y="38398"/>
                  </a:cubicBezTo>
                  <a:cubicBezTo>
                    <a:pt x="85150" y="12656"/>
                    <a:pt x="58864" y="21973"/>
                    <a:pt x="47011" y="13545"/>
                  </a:cubicBezTo>
                  <a:cubicBezTo>
                    <a:pt x="40533" y="8916"/>
                    <a:pt x="37279" y="1"/>
                    <a:pt x="28020" y="1"/>
                  </a:cubicBezTo>
                  <a:close/>
                </a:path>
              </a:pathLst>
            </a:custGeom>
            <a:solidFill>
              <a:srgbClr val="FFFFFF">
                <a:alpha val="37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8"/>
            <p:cNvSpPr/>
            <p:nvPr/>
          </p:nvSpPr>
          <p:spPr>
            <a:xfrm>
              <a:off x="589250" y="783925"/>
              <a:ext cx="3293325" cy="3996300"/>
            </a:xfrm>
            <a:custGeom>
              <a:rect b="b" l="l" r="r" t="t"/>
              <a:pathLst>
                <a:path extrusionOk="0" h="159852" w="131733">
                  <a:moveTo>
                    <a:pt x="19780" y="0"/>
                  </a:moveTo>
                  <a:cubicBezTo>
                    <a:pt x="11825" y="0"/>
                    <a:pt x="2438" y="8686"/>
                    <a:pt x="2438" y="25168"/>
                  </a:cubicBezTo>
                  <a:cubicBezTo>
                    <a:pt x="2438" y="39830"/>
                    <a:pt x="8687" y="57058"/>
                    <a:pt x="8687" y="68653"/>
                  </a:cubicBezTo>
                  <a:cubicBezTo>
                    <a:pt x="8687" y="82155"/>
                    <a:pt x="1" y="94180"/>
                    <a:pt x="1" y="107194"/>
                  </a:cubicBezTo>
                  <a:cubicBezTo>
                    <a:pt x="1" y="153216"/>
                    <a:pt x="69658" y="152915"/>
                    <a:pt x="69844" y="152944"/>
                  </a:cubicBezTo>
                  <a:cubicBezTo>
                    <a:pt x="78257" y="154391"/>
                    <a:pt x="84248" y="159852"/>
                    <a:pt x="92533" y="159852"/>
                  </a:cubicBezTo>
                  <a:cubicBezTo>
                    <a:pt x="93636" y="159852"/>
                    <a:pt x="94740" y="159752"/>
                    <a:pt x="95829" y="159565"/>
                  </a:cubicBezTo>
                  <a:cubicBezTo>
                    <a:pt x="87774" y="157286"/>
                    <a:pt x="83016" y="151439"/>
                    <a:pt x="83016" y="144631"/>
                  </a:cubicBezTo>
                  <a:cubicBezTo>
                    <a:pt x="83016" y="126357"/>
                    <a:pt x="113401" y="119592"/>
                    <a:pt x="113401" y="100945"/>
                  </a:cubicBezTo>
                  <a:cubicBezTo>
                    <a:pt x="113401" y="62175"/>
                    <a:pt x="46267" y="75074"/>
                    <a:pt x="46267" y="50537"/>
                  </a:cubicBezTo>
                  <a:cubicBezTo>
                    <a:pt x="46267" y="25369"/>
                    <a:pt x="131732" y="33667"/>
                    <a:pt x="131732" y="14576"/>
                  </a:cubicBezTo>
                  <a:cubicBezTo>
                    <a:pt x="131732" y="7654"/>
                    <a:pt x="116382" y="2279"/>
                    <a:pt x="100258" y="2279"/>
                  </a:cubicBezTo>
                  <a:cubicBezTo>
                    <a:pt x="84449" y="2279"/>
                    <a:pt x="68611" y="5690"/>
                    <a:pt x="52745" y="5690"/>
                  </a:cubicBezTo>
                  <a:cubicBezTo>
                    <a:pt x="35761" y="5690"/>
                    <a:pt x="30429" y="0"/>
                    <a:pt x="19780" y="0"/>
                  </a:cubicBezTo>
                  <a:close/>
                </a:path>
              </a:pathLst>
            </a:custGeom>
            <a:solidFill>
              <a:srgbClr val="B2E2E3">
                <a:alpha val="19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8"/>
            <p:cNvSpPr/>
            <p:nvPr/>
          </p:nvSpPr>
          <p:spPr>
            <a:xfrm>
              <a:off x="4186050" y="1063050"/>
              <a:ext cx="2937500" cy="2960075"/>
            </a:xfrm>
            <a:custGeom>
              <a:rect b="b" l="l" r="r" t="t"/>
              <a:pathLst>
                <a:path extrusionOk="0" h="118403" w="117500">
                  <a:moveTo>
                    <a:pt x="106095" y="116177"/>
                  </a:moveTo>
                  <a:cubicBezTo>
                    <a:pt x="105103" y="116776"/>
                    <a:pt x="104177" y="117338"/>
                    <a:pt x="103525" y="118044"/>
                  </a:cubicBezTo>
                  <a:lnTo>
                    <a:pt x="106095" y="116177"/>
                  </a:lnTo>
                  <a:close/>
                  <a:moveTo>
                    <a:pt x="30156" y="0"/>
                  </a:moveTo>
                  <a:cubicBezTo>
                    <a:pt x="11724" y="0"/>
                    <a:pt x="0" y="12943"/>
                    <a:pt x="0" y="20295"/>
                  </a:cubicBezTo>
                  <a:cubicBezTo>
                    <a:pt x="0" y="57531"/>
                    <a:pt x="71076" y="28794"/>
                    <a:pt x="71076" y="69972"/>
                  </a:cubicBezTo>
                  <a:cubicBezTo>
                    <a:pt x="71076" y="76737"/>
                    <a:pt x="69184" y="83889"/>
                    <a:pt x="69184" y="91084"/>
                  </a:cubicBezTo>
                  <a:cubicBezTo>
                    <a:pt x="69184" y="107739"/>
                    <a:pt x="81395" y="118402"/>
                    <a:pt x="96631" y="118402"/>
                  </a:cubicBezTo>
                  <a:cubicBezTo>
                    <a:pt x="100558" y="118402"/>
                    <a:pt x="104299" y="117456"/>
                    <a:pt x="107294" y="115306"/>
                  </a:cubicBezTo>
                  <a:lnTo>
                    <a:pt x="107294" y="115306"/>
                  </a:lnTo>
                  <a:lnTo>
                    <a:pt x="106095" y="116177"/>
                  </a:lnTo>
                  <a:lnTo>
                    <a:pt x="106095" y="116177"/>
                  </a:lnTo>
                  <a:cubicBezTo>
                    <a:pt x="108588" y="114673"/>
                    <a:pt x="111494" y="112943"/>
                    <a:pt x="111494" y="108154"/>
                  </a:cubicBezTo>
                  <a:cubicBezTo>
                    <a:pt x="111494" y="100945"/>
                    <a:pt x="102866" y="94080"/>
                    <a:pt x="102866" y="84018"/>
                  </a:cubicBezTo>
                  <a:cubicBezTo>
                    <a:pt x="102866" y="68940"/>
                    <a:pt x="117499" y="64483"/>
                    <a:pt x="117499" y="41522"/>
                  </a:cubicBezTo>
                  <a:cubicBezTo>
                    <a:pt x="117499" y="29339"/>
                    <a:pt x="113859" y="4343"/>
                    <a:pt x="101633" y="4343"/>
                  </a:cubicBezTo>
                  <a:cubicBezTo>
                    <a:pt x="94137" y="4343"/>
                    <a:pt x="87358" y="10879"/>
                    <a:pt x="79346" y="10879"/>
                  </a:cubicBezTo>
                  <a:cubicBezTo>
                    <a:pt x="68539" y="10879"/>
                    <a:pt x="48831" y="0"/>
                    <a:pt x="30156" y="0"/>
                  </a:cubicBezTo>
                  <a:close/>
                </a:path>
              </a:pathLst>
            </a:custGeom>
            <a:solidFill>
              <a:srgbClr val="FFFFFF">
                <a:alpha val="379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8"/>
            <p:cNvSpPr/>
            <p:nvPr/>
          </p:nvSpPr>
          <p:spPr>
            <a:xfrm>
              <a:off x="5137725" y="1079525"/>
              <a:ext cx="2227675" cy="1775175"/>
            </a:xfrm>
            <a:custGeom>
              <a:rect b="b" l="l" r="r" t="t"/>
              <a:pathLst>
                <a:path extrusionOk="0" h="71007" w="89107">
                  <a:moveTo>
                    <a:pt x="26731" y="0"/>
                  </a:moveTo>
                  <a:cubicBezTo>
                    <a:pt x="8844" y="0"/>
                    <a:pt x="1" y="14233"/>
                    <a:pt x="2050" y="21098"/>
                  </a:cubicBezTo>
                  <a:cubicBezTo>
                    <a:pt x="6637" y="36463"/>
                    <a:pt x="26502" y="31676"/>
                    <a:pt x="32077" y="35316"/>
                  </a:cubicBezTo>
                  <a:cubicBezTo>
                    <a:pt x="48790" y="46208"/>
                    <a:pt x="46877" y="71006"/>
                    <a:pt x="64540" y="71006"/>
                  </a:cubicBezTo>
                  <a:cubicBezTo>
                    <a:pt x="68447" y="71006"/>
                    <a:pt x="73311" y="69793"/>
                    <a:pt x="79547" y="66948"/>
                  </a:cubicBezTo>
                  <a:cubicBezTo>
                    <a:pt x="79876" y="63336"/>
                    <a:pt x="77569" y="60513"/>
                    <a:pt x="77569" y="57030"/>
                  </a:cubicBezTo>
                  <a:cubicBezTo>
                    <a:pt x="77569" y="48875"/>
                    <a:pt x="89107" y="41465"/>
                    <a:pt x="89107" y="31633"/>
                  </a:cubicBezTo>
                  <a:cubicBezTo>
                    <a:pt x="89107" y="789"/>
                    <a:pt x="44604" y="0"/>
                    <a:pt x="26731" y="0"/>
                  </a:cubicBezTo>
                  <a:close/>
                </a:path>
              </a:pathLst>
            </a:custGeom>
            <a:solidFill>
              <a:srgbClr val="B2E2E3">
                <a:alpha val="20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8"/>
            <p:cNvSpPr/>
            <p:nvPr/>
          </p:nvSpPr>
          <p:spPr>
            <a:xfrm>
              <a:off x="4477700" y="3095775"/>
              <a:ext cx="2566650" cy="1631075"/>
            </a:xfrm>
            <a:custGeom>
              <a:rect b="b" l="l" r="r" t="t"/>
              <a:pathLst>
                <a:path extrusionOk="0" h="65243" w="102666">
                  <a:moveTo>
                    <a:pt x="47714" y="0"/>
                  </a:moveTo>
                  <a:cubicBezTo>
                    <a:pt x="37595" y="301"/>
                    <a:pt x="44776" y="14820"/>
                    <a:pt x="27305" y="22646"/>
                  </a:cubicBezTo>
                  <a:cubicBezTo>
                    <a:pt x="19221" y="26258"/>
                    <a:pt x="1" y="33166"/>
                    <a:pt x="1" y="54335"/>
                  </a:cubicBezTo>
                  <a:cubicBezTo>
                    <a:pt x="1" y="63035"/>
                    <a:pt x="12184" y="65242"/>
                    <a:pt x="20841" y="65242"/>
                  </a:cubicBezTo>
                  <a:cubicBezTo>
                    <a:pt x="32479" y="65242"/>
                    <a:pt x="36965" y="62190"/>
                    <a:pt x="54952" y="62190"/>
                  </a:cubicBezTo>
                  <a:cubicBezTo>
                    <a:pt x="63265" y="62190"/>
                    <a:pt x="71635" y="62677"/>
                    <a:pt x="79963" y="62677"/>
                  </a:cubicBezTo>
                  <a:cubicBezTo>
                    <a:pt x="90684" y="62677"/>
                    <a:pt x="102666" y="62003"/>
                    <a:pt x="102666" y="51211"/>
                  </a:cubicBezTo>
                  <a:cubicBezTo>
                    <a:pt x="102666" y="50680"/>
                    <a:pt x="102565" y="50179"/>
                    <a:pt x="102264" y="49935"/>
                  </a:cubicBezTo>
                  <a:cubicBezTo>
                    <a:pt x="101720" y="49476"/>
                    <a:pt x="101017" y="49247"/>
                    <a:pt x="100415" y="48889"/>
                  </a:cubicBezTo>
                  <a:cubicBezTo>
                    <a:pt x="98925" y="49090"/>
                    <a:pt x="97463" y="49032"/>
                    <a:pt x="96044" y="49204"/>
                  </a:cubicBezTo>
                  <a:cubicBezTo>
                    <a:pt x="93146" y="49539"/>
                    <a:pt x="90449" y="49697"/>
                    <a:pt x="87937" y="49697"/>
                  </a:cubicBezTo>
                  <a:cubicBezTo>
                    <a:pt x="43443" y="49697"/>
                    <a:pt x="57132" y="0"/>
                    <a:pt x="47757" y="0"/>
                  </a:cubicBezTo>
                  <a:close/>
                </a:path>
              </a:pathLst>
            </a:custGeom>
            <a:solidFill>
              <a:srgbClr val="5BB8BB">
                <a:alpha val="21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8"/>
          <p:cNvSpPr txBox="1"/>
          <p:nvPr>
            <p:ph type="title"/>
          </p:nvPr>
        </p:nvSpPr>
        <p:spPr>
          <a:xfrm flipH="1">
            <a:off x="2497650" y="892625"/>
            <a:ext cx="4148700" cy="2232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1633700" y="873500"/>
            <a:ext cx="27165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1633700" y="1949100"/>
            <a:ext cx="3273600" cy="23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3" name="Google Shape;43;p9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1572600" y="1841700"/>
            <a:ext cx="5998800" cy="14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160">
          <p15:clr>
            <a:srgbClr val="FA7B17"/>
          </p15:clr>
        </p15:guide>
        <p15:guide id="2" orient="horz" pos="2080">
          <p15:clr>
            <a:srgbClr val="FA7B17"/>
          </p15:clr>
        </p15:guide>
        <p15:guide id="3" pos="991">
          <p15:clr>
            <a:srgbClr val="FA7B17"/>
          </p15:clr>
        </p15:guide>
        <p15:guide id="4" pos="4769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1462650" y="1203525"/>
            <a:ext cx="62187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2110950" y="3064000"/>
            <a:ext cx="4922100" cy="7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2" name="Google Shape;52;p13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1678750" y="643000"/>
            <a:ext cx="6246600" cy="3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6" name="Google Shape;56;p14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IG_NUMB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hasCustomPrompt="1" type="title"/>
          </p:nvPr>
        </p:nvSpPr>
        <p:spPr>
          <a:xfrm>
            <a:off x="1202325" y="555812"/>
            <a:ext cx="1057200" cy="5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5"/>
          <p:cNvSpPr txBox="1"/>
          <p:nvPr>
            <p:ph idx="2" type="title"/>
          </p:nvPr>
        </p:nvSpPr>
        <p:spPr>
          <a:xfrm>
            <a:off x="2449800" y="641612"/>
            <a:ext cx="40452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2449800" y="954812"/>
            <a:ext cx="40452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hasCustomPrompt="1" idx="3" type="title"/>
          </p:nvPr>
        </p:nvSpPr>
        <p:spPr>
          <a:xfrm>
            <a:off x="1202325" y="1203512"/>
            <a:ext cx="1057200" cy="5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p15"/>
          <p:cNvSpPr txBox="1"/>
          <p:nvPr>
            <p:ph idx="4" type="title"/>
          </p:nvPr>
        </p:nvSpPr>
        <p:spPr>
          <a:xfrm>
            <a:off x="2449800" y="1289437"/>
            <a:ext cx="40452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5" type="subTitle"/>
          </p:nvPr>
        </p:nvSpPr>
        <p:spPr>
          <a:xfrm>
            <a:off x="2449800" y="1602512"/>
            <a:ext cx="40452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hasCustomPrompt="1" idx="6" type="title"/>
          </p:nvPr>
        </p:nvSpPr>
        <p:spPr>
          <a:xfrm>
            <a:off x="1202325" y="1851212"/>
            <a:ext cx="1057200" cy="5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5"/>
          <p:cNvSpPr txBox="1"/>
          <p:nvPr>
            <p:ph idx="7" type="title"/>
          </p:nvPr>
        </p:nvSpPr>
        <p:spPr>
          <a:xfrm>
            <a:off x="2449800" y="1937137"/>
            <a:ext cx="40452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8" type="subTitle"/>
          </p:nvPr>
        </p:nvSpPr>
        <p:spPr>
          <a:xfrm>
            <a:off x="2449800" y="2250212"/>
            <a:ext cx="40452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hasCustomPrompt="1" idx="9" type="title"/>
          </p:nvPr>
        </p:nvSpPr>
        <p:spPr>
          <a:xfrm>
            <a:off x="1202325" y="2498912"/>
            <a:ext cx="1057200" cy="5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5"/>
          <p:cNvSpPr txBox="1"/>
          <p:nvPr>
            <p:ph idx="13" type="title"/>
          </p:nvPr>
        </p:nvSpPr>
        <p:spPr>
          <a:xfrm>
            <a:off x="2449800" y="2584837"/>
            <a:ext cx="40452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14" type="subTitle"/>
          </p:nvPr>
        </p:nvSpPr>
        <p:spPr>
          <a:xfrm>
            <a:off x="2449800" y="2897912"/>
            <a:ext cx="40452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hasCustomPrompt="1" idx="15" type="title"/>
          </p:nvPr>
        </p:nvSpPr>
        <p:spPr>
          <a:xfrm>
            <a:off x="1202325" y="3146612"/>
            <a:ext cx="1057200" cy="5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5"/>
          <p:cNvSpPr txBox="1"/>
          <p:nvPr>
            <p:ph idx="16" type="title"/>
          </p:nvPr>
        </p:nvSpPr>
        <p:spPr>
          <a:xfrm>
            <a:off x="2449800" y="3232537"/>
            <a:ext cx="40452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7" type="subTitle"/>
          </p:nvPr>
        </p:nvSpPr>
        <p:spPr>
          <a:xfrm>
            <a:off x="2449800" y="3545612"/>
            <a:ext cx="40452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hasCustomPrompt="1" idx="18" type="title"/>
          </p:nvPr>
        </p:nvSpPr>
        <p:spPr>
          <a:xfrm>
            <a:off x="1202325" y="3794312"/>
            <a:ext cx="1057200" cy="5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5"/>
          <p:cNvSpPr txBox="1"/>
          <p:nvPr>
            <p:ph idx="19" type="title"/>
          </p:nvPr>
        </p:nvSpPr>
        <p:spPr>
          <a:xfrm>
            <a:off x="2449800" y="3880237"/>
            <a:ext cx="40452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20" type="subTitle"/>
          </p:nvPr>
        </p:nvSpPr>
        <p:spPr>
          <a:xfrm>
            <a:off x="2449800" y="4193312"/>
            <a:ext cx="40452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21"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7" name="Google Shape;77;p15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TITLE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80" name="Google Shape;80;p16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1" name="Google Shape;81;p16"/>
          <p:cNvSpPr txBox="1"/>
          <p:nvPr>
            <p:ph idx="2" type="title"/>
          </p:nvPr>
        </p:nvSpPr>
        <p:spPr>
          <a:xfrm>
            <a:off x="1867375" y="2492150"/>
            <a:ext cx="19281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>
            <a:off x="1867375" y="2957750"/>
            <a:ext cx="19281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3" type="title"/>
          </p:nvPr>
        </p:nvSpPr>
        <p:spPr>
          <a:xfrm>
            <a:off x="4185450" y="2492150"/>
            <a:ext cx="19281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4" type="subTitle"/>
          </p:nvPr>
        </p:nvSpPr>
        <p:spPr>
          <a:xfrm>
            <a:off x="4185450" y="2957750"/>
            <a:ext cx="19281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5" type="title"/>
          </p:nvPr>
        </p:nvSpPr>
        <p:spPr>
          <a:xfrm>
            <a:off x="6503525" y="2492150"/>
            <a:ext cx="19281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6" type="subTitle"/>
          </p:nvPr>
        </p:nvSpPr>
        <p:spPr>
          <a:xfrm>
            <a:off x="6503525" y="2957750"/>
            <a:ext cx="19281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 ">
  <p:cSld name="TITLE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1310825" y="2772500"/>
            <a:ext cx="22824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1310825" y="3238100"/>
            <a:ext cx="22824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2" type="title"/>
          </p:nvPr>
        </p:nvSpPr>
        <p:spPr>
          <a:xfrm>
            <a:off x="5550787" y="2772500"/>
            <a:ext cx="22824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3" type="subTitle"/>
          </p:nvPr>
        </p:nvSpPr>
        <p:spPr>
          <a:xfrm>
            <a:off x="5550787" y="3238100"/>
            <a:ext cx="22824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5074500" y="2723225"/>
            <a:ext cx="3330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4" name="Google Shape;94;p18"/>
          <p:cNvSpPr txBox="1"/>
          <p:nvPr>
            <p:ph hasCustomPrompt="1" idx="2" type="title"/>
          </p:nvPr>
        </p:nvSpPr>
        <p:spPr>
          <a:xfrm>
            <a:off x="5074500" y="1178125"/>
            <a:ext cx="33306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5074500" y="3396925"/>
            <a:ext cx="31308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BIG_NUMB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hasCustomPrompt="1" type="title"/>
          </p:nvPr>
        </p:nvSpPr>
        <p:spPr>
          <a:xfrm>
            <a:off x="1927300" y="1779425"/>
            <a:ext cx="1946700" cy="13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19"/>
          <p:cNvSpPr txBox="1"/>
          <p:nvPr>
            <p:ph idx="2"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99" name="Google Shape;99;p19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" name="Google Shape;100;p19"/>
          <p:cNvSpPr txBox="1"/>
          <p:nvPr>
            <p:ph hasCustomPrompt="1" idx="3" type="title"/>
          </p:nvPr>
        </p:nvSpPr>
        <p:spPr>
          <a:xfrm>
            <a:off x="6430300" y="1779425"/>
            <a:ext cx="1946700" cy="13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1" name="Google Shape;101;p19"/>
          <p:cNvSpPr txBox="1"/>
          <p:nvPr>
            <p:ph idx="1" type="subTitle"/>
          </p:nvPr>
        </p:nvSpPr>
        <p:spPr>
          <a:xfrm>
            <a:off x="1936600" y="3934825"/>
            <a:ext cx="19281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4" type="subTitle"/>
          </p:nvPr>
        </p:nvSpPr>
        <p:spPr>
          <a:xfrm>
            <a:off x="6439600" y="3934825"/>
            <a:ext cx="19281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hasCustomPrompt="1" idx="5" type="title"/>
          </p:nvPr>
        </p:nvSpPr>
        <p:spPr>
          <a:xfrm>
            <a:off x="4178800" y="1035750"/>
            <a:ext cx="1946700" cy="133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4" name="Google Shape;104;p19"/>
          <p:cNvSpPr txBox="1"/>
          <p:nvPr>
            <p:ph idx="6" type="subTitle"/>
          </p:nvPr>
        </p:nvSpPr>
        <p:spPr>
          <a:xfrm>
            <a:off x="4188100" y="3191150"/>
            <a:ext cx="19281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>
  <p:cSld name="SECTION_HEADER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2152200" y="3256625"/>
            <a:ext cx="483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7" name="Google Shape;107;p20"/>
          <p:cNvSpPr txBox="1"/>
          <p:nvPr>
            <p:ph hasCustomPrompt="1" idx="2" type="title"/>
          </p:nvPr>
        </p:nvSpPr>
        <p:spPr>
          <a:xfrm>
            <a:off x="1950300" y="1711525"/>
            <a:ext cx="52434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20"/>
          <p:cNvSpPr txBox="1"/>
          <p:nvPr>
            <p:ph idx="1" type="subTitle"/>
          </p:nvPr>
        </p:nvSpPr>
        <p:spPr>
          <a:xfrm>
            <a:off x="2562600" y="3930325"/>
            <a:ext cx="40188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ONLY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11" name="Google Shape;111;p21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2" name="Google Shape;112;p21"/>
          <p:cNvSpPr txBox="1"/>
          <p:nvPr>
            <p:ph idx="2" type="title"/>
          </p:nvPr>
        </p:nvSpPr>
        <p:spPr>
          <a:xfrm>
            <a:off x="5072750" y="3428537"/>
            <a:ext cx="16206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21"/>
          <p:cNvSpPr txBox="1"/>
          <p:nvPr>
            <p:ph idx="1" type="subTitle"/>
          </p:nvPr>
        </p:nvSpPr>
        <p:spPr>
          <a:xfrm>
            <a:off x="5072750" y="3894137"/>
            <a:ext cx="16206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1"/>
          <p:cNvSpPr txBox="1"/>
          <p:nvPr>
            <p:ph idx="3" type="title"/>
          </p:nvPr>
        </p:nvSpPr>
        <p:spPr>
          <a:xfrm>
            <a:off x="6764958" y="3428537"/>
            <a:ext cx="16206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21"/>
          <p:cNvSpPr txBox="1"/>
          <p:nvPr>
            <p:ph idx="4" type="subTitle"/>
          </p:nvPr>
        </p:nvSpPr>
        <p:spPr>
          <a:xfrm>
            <a:off x="6764958" y="3894137"/>
            <a:ext cx="16206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5" type="title"/>
          </p:nvPr>
        </p:nvSpPr>
        <p:spPr>
          <a:xfrm>
            <a:off x="5072750" y="1172335"/>
            <a:ext cx="16206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6" type="subTitle"/>
          </p:nvPr>
        </p:nvSpPr>
        <p:spPr>
          <a:xfrm>
            <a:off x="5072750" y="1637935"/>
            <a:ext cx="16206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21"/>
          <p:cNvSpPr txBox="1"/>
          <p:nvPr>
            <p:ph idx="7" type="title"/>
          </p:nvPr>
        </p:nvSpPr>
        <p:spPr>
          <a:xfrm>
            <a:off x="6764958" y="1172335"/>
            <a:ext cx="16206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8" type="subTitle"/>
          </p:nvPr>
        </p:nvSpPr>
        <p:spPr>
          <a:xfrm>
            <a:off x="6764958" y="1637935"/>
            <a:ext cx="16206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">
  <p:cSld name="TITLE_ONLY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2" name="Google Shape;122;p22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23" name="Google Shape;123;p22"/>
          <p:cNvSpPr txBox="1"/>
          <p:nvPr>
            <p:ph idx="2" type="title"/>
          </p:nvPr>
        </p:nvSpPr>
        <p:spPr>
          <a:xfrm>
            <a:off x="2022425" y="3457175"/>
            <a:ext cx="19281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1" type="subTitle"/>
          </p:nvPr>
        </p:nvSpPr>
        <p:spPr>
          <a:xfrm>
            <a:off x="2022425" y="3846575"/>
            <a:ext cx="19281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3" type="title"/>
          </p:nvPr>
        </p:nvSpPr>
        <p:spPr>
          <a:xfrm>
            <a:off x="4188100" y="3457175"/>
            <a:ext cx="19281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4" type="subTitle"/>
          </p:nvPr>
        </p:nvSpPr>
        <p:spPr>
          <a:xfrm>
            <a:off x="4188100" y="3846575"/>
            <a:ext cx="19281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2"/>
          <p:cNvSpPr txBox="1"/>
          <p:nvPr>
            <p:ph idx="5" type="title"/>
          </p:nvPr>
        </p:nvSpPr>
        <p:spPr>
          <a:xfrm>
            <a:off x="6353775" y="3457175"/>
            <a:ext cx="19281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6" type="subTitle"/>
          </p:nvPr>
        </p:nvSpPr>
        <p:spPr>
          <a:xfrm>
            <a:off x="6353775" y="3846575"/>
            <a:ext cx="19281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2"/>
          <p:cNvSpPr txBox="1"/>
          <p:nvPr>
            <p:ph idx="7" type="title"/>
          </p:nvPr>
        </p:nvSpPr>
        <p:spPr>
          <a:xfrm>
            <a:off x="2022425" y="1474825"/>
            <a:ext cx="19281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22"/>
          <p:cNvSpPr txBox="1"/>
          <p:nvPr>
            <p:ph idx="8" type="subTitle"/>
          </p:nvPr>
        </p:nvSpPr>
        <p:spPr>
          <a:xfrm>
            <a:off x="2022425" y="1864225"/>
            <a:ext cx="19281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9" type="title"/>
          </p:nvPr>
        </p:nvSpPr>
        <p:spPr>
          <a:xfrm>
            <a:off x="4188100" y="1474825"/>
            <a:ext cx="19281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13" type="subTitle"/>
          </p:nvPr>
        </p:nvSpPr>
        <p:spPr>
          <a:xfrm>
            <a:off x="4188100" y="1864225"/>
            <a:ext cx="19281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4" type="title"/>
          </p:nvPr>
        </p:nvSpPr>
        <p:spPr>
          <a:xfrm>
            <a:off x="6353775" y="1474825"/>
            <a:ext cx="19281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15" type="subTitle"/>
          </p:nvPr>
        </p:nvSpPr>
        <p:spPr>
          <a:xfrm>
            <a:off x="6353775" y="1864225"/>
            <a:ext cx="19281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TITLE_ONLY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7" name="Google Shape;137;p23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1">
  <p:cSld name="TITLE_ONLY_1_1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0" name="Google Shape;140;p24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1" name="Google Shape;141;p24"/>
          <p:cNvSpPr txBox="1"/>
          <p:nvPr>
            <p:ph idx="2" type="title"/>
          </p:nvPr>
        </p:nvSpPr>
        <p:spPr>
          <a:xfrm>
            <a:off x="1977200" y="1572800"/>
            <a:ext cx="16713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24"/>
          <p:cNvSpPr txBox="1"/>
          <p:nvPr>
            <p:ph idx="1" type="subTitle"/>
          </p:nvPr>
        </p:nvSpPr>
        <p:spPr>
          <a:xfrm>
            <a:off x="1977200" y="2876600"/>
            <a:ext cx="16713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3" type="title"/>
          </p:nvPr>
        </p:nvSpPr>
        <p:spPr>
          <a:xfrm>
            <a:off x="4301000" y="1572800"/>
            <a:ext cx="16713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24"/>
          <p:cNvSpPr txBox="1"/>
          <p:nvPr>
            <p:ph idx="4" type="subTitle"/>
          </p:nvPr>
        </p:nvSpPr>
        <p:spPr>
          <a:xfrm>
            <a:off x="4301000" y="2876600"/>
            <a:ext cx="16713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5" type="title"/>
          </p:nvPr>
        </p:nvSpPr>
        <p:spPr>
          <a:xfrm>
            <a:off x="6624801" y="1572800"/>
            <a:ext cx="16713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4"/>
          <p:cNvSpPr txBox="1"/>
          <p:nvPr>
            <p:ph idx="6" type="subTitle"/>
          </p:nvPr>
        </p:nvSpPr>
        <p:spPr>
          <a:xfrm>
            <a:off x="6624801" y="2876600"/>
            <a:ext cx="16713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3">
  <p:cSld name="SECTION_HEADER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2152200" y="2723225"/>
            <a:ext cx="483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9" name="Google Shape;149;p25"/>
          <p:cNvSpPr txBox="1"/>
          <p:nvPr>
            <p:ph hasCustomPrompt="1" idx="2" type="title"/>
          </p:nvPr>
        </p:nvSpPr>
        <p:spPr>
          <a:xfrm>
            <a:off x="1950300" y="1178125"/>
            <a:ext cx="52434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0" name="Google Shape;150;p25"/>
          <p:cNvSpPr txBox="1"/>
          <p:nvPr>
            <p:ph idx="1" type="subTitle"/>
          </p:nvPr>
        </p:nvSpPr>
        <p:spPr>
          <a:xfrm>
            <a:off x="2549400" y="3396937"/>
            <a:ext cx="40452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ONLY_1_1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53" name="Google Shape;153;p26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54" name="Google Shape;154;p26"/>
          <p:cNvSpPr txBox="1"/>
          <p:nvPr>
            <p:ph idx="2" type="title"/>
          </p:nvPr>
        </p:nvSpPr>
        <p:spPr>
          <a:xfrm>
            <a:off x="1838863" y="2486075"/>
            <a:ext cx="15165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26"/>
          <p:cNvSpPr txBox="1"/>
          <p:nvPr>
            <p:ph idx="1" type="subTitle"/>
          </p:nvPr>
        </p:nvSpPr>
        <p:spPr>
          <a:xfrm>
            <a:off x="1838863" y="2951675"/>
            <a:ext cx="15165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6"/>
          <p:cNvSpPr txBox="1"/>
          <p:nvPr>
            <p:ph idx="3" type="title"/>
          </p:nvPr>
        </p:nvSpPr>
        <p:spPr>
          <a:xfrm>
            <a:off x="3542230" y="2486075"/>
            <a:ext cx="15165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6"/>
          <p:cNvSpPr txBox="1"/>
          <p:nvPr>
            <p:ph idx="4" type="subTitle"/>
          </p:nvPr>
        </p:nvSpPr>
        <p:spPr>
          <a:xfrm>
            <a:off x="3542230" y="2951675"/>
            <a:ext cx="15165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26"/>
          <p:cNvSpPr txBox="1"/>
          <p:nvPr>
            <p:ph idx="5" type="title"/>
          </p:nvPr>
        </p:nvSpPr>
        <p:spPr>
          <a:xfrm>
            <a:off x="5245597" y="2486075"/>
            <a:ext cx="15165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26"/>
          <p:cNvSpPr txBox="1"/>
          <p:nvPr>
            <p:ph idx="6" type="subTitle"/>
          </p:nvPr>
        </p:nvSpPr>
        <p:spPr>
          <a:xfrm>
            <a:off x="5245597" y="2951675"/>
            <a:ext cx="15165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26"/>
          <p:cNvSpPr txBox="1"/>
          <p:nvPr>
            <p:ph idx="7" type="title"/>
          </p:nvPr>
        </p:nvSpPr>
        <p:spPr>
          <a:xfrm>
            <a:off x="6948947" y="2486075"/>
            <a:ext cx="15165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" name="Google Shape;161;p26"/>
          <p:cNvSpPr txBox="1"/>
          <p:nvPr>
            <p:ph idx="8" type="subTitle"/>
          </p:nvPr>
        </p:nvSpPr>
        <p:spPr>
          <a:xfrm>
            <a:off x="6948947" y="2951675"/>
            <a:ext cx="15165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4">
  <p:cSld name="SECTION_HEADER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1035550" y="2731750"/>
            <a:ext cx="483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4" name="Google Shape;164;p27"/>
          <p:cNvSpPr txBox="1"/>
          <p:nvPr>
            <p:ph hasCustomPrompt="1" idx="2" type="title"/>
          </p:nvPr>
        </p:nvSpPr>
        <p:spPr>
          <a:xfrm>
            <a:off x="1035550" y="1186650"/>
            <a:ext cx="52434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27"/>
          <p:cNvSpPr txBox="1"/>
          <p:nvPr>
            <p:ph idx="1" type="subTitle"/>
          </p:nvPr>
        </p:nvSpPr>
        <p:spPr>
          <a:xfrm>
            <a:off x="1035550" y="3405450"/>
            <a:ext cx="31785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5">
  <p:cSld name="SECTION_HEADER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2152200" y="2189825"/>
            <a:ext cx="483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8" name="Google Shape;168;p28"/>
          <p:cNvSpPr txBox="1"/>
          <p:nvPr>
            <p:ph hasCustomPrompt="1" idx="2" type="title"/>
          </p:nvPr>
        </p:nvSpPr>
        <p:spPr>
          <a:xfrm>
            <a:off x="1950300" y="644725"/>
            <a:ext cx="52434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9" name="Google Shape;169;p28"/>
          <p:cNvSpPr txBox="1"/>
          <p:nvPr>
            <p:ph idx="1" type="subTitle"/>
          </p:nvPr>
        </p:nvSpPr>
        <p:spPr>
          <a:xfrm>
            <a:off x="2713500" y="2863525"/>
            <a:ext cx="37170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centages">
  <p:cSld name="BIG_NUMBER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hasCustomPrompt="1" type="title"/>
          </p:nvPr>
        </p:nvSpPr>
        <p:spPr>
          <a:xfrm>
            <a:off x="2349000" y="3024625"/>
            <a:ext cx="1599600" cy="55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29"/>
          <p:cNvSpPr txBox="1"/>
          <p:nvPr>
            <p:ph idx="2"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3" name="Google Shape;173;p29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74" name="Google Shape;174;p29"/>
          <p:cNvSpPr txBox="1"/>
          <p:nvPr>
            <p:ph idx="3" type="title"/>
          </p:nvPr>
        </p:nvSpPr>
        <p:spPr>
          <a:xfrm>
            <a:off x="2356642" y="3579800"/>
            <a:ext cx="15843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29"/>
          <p:cNvSpPr txBox="1"/>
          <p:nvPr>
            <p:ph idx="1" type="subTitle"/>
          </p:nvPr>
        </p:nvSpPr>
        <p:spPr>
          <a:xfrm>
            <a:off x="2356642" y="3969200"/>
            <a:ext cx="15843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29"/>
          <p:cNvSpPr txBox="1"/>
          <p:nvPr>
            <p:ph hasCustomPrompt="1" idx="4" type="title"/>
          </p:nvPr>
        </p:nvSpPr>
        <p:spPr>
          <a:xfrm>
            <a:off x="4360000" y="3024625"/>
            <a:ext cx="1599600" cy="55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" name="Google Shape;177;p29"/>
          <p:cNvSpPr txBox="1"/>
          <p:nvPr>
            <p:ph idx="5" type="title"/>
          </p:nvPr>
        </p:nvSpPr>
        <p:spPr>
          <a:xfrm>
            <a:off x="4367642" y="3579800"/>
            <a:ext cx="15843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29"/>
          <p:cNvSpPr txBox="1"/>
          <p:nvPr>
            <p:ph idx="6" type="subTitle"/>
          </p:nvPr>
        </p:nvSpPr>
        <p:spPr>
          <a:xfrm>
            <a:off x="4367642" y="3969200"/>
            <a:ext cx="15843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29"/>
          <p:cNvSpPr txBox="1"/>
          <p:nvPr>
            <p:ph hasCustomPrompt="1" idx="7" type="title"/>
          </p:nvPr>
        </p:nvSpPr>
        <p:spPr>
          <a:xfrm>
            <a:off x="6371000" y="3024625"/>
            <a:ext cx="1599600" cy="55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0" name="Google Shape;180;p29"/>
          <p:cNvSpPr txBox="1"/>
          <p:nvPr>
            <p:ph idx="8" type="title"/>
          </p:nvPr>
        </p:nvSpPr>
        <p:spPr>
          <a:xfrm>
            <a:off x="6378642" y="3579800"/>
            <a:ext cx="15843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9" type="subTitle"/>
          </p:nvPr>
        </p:nvSpPr>
        <p:spPr>
          <a:xfrm>
            <a:off x="6378642" y="3969200"/>
            <a:ext cx="15843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chnological Design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idx="1" type="subTitle"/>
          </p:nvPr>
        </p:nvSpPr>
        <p:spPr>
          <a:xfrm>
            <a:off x="5667550" y="1681613"/>
            <a:ext cx="2716500" cy="54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4" name="Google Shape;184;p30"/>
          <p:cNvSpPr txBox="1"/>
          <p:nvPr>
            <p:ph idx="2" type="body"/>
          </p:nvPr>
        </p:nvSpPr>
        <p:spPr>
          <a:xfrm>
            <a:off x="5667550" y="2226788"/>
            <a:ext cx="23664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30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86" name="Google Shape;186;p30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chnological Design 1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idx="1" type="subTitle"/>
          </p:nvPr>
        </p:nvSpPr>
        <p:spPr>
          <a:xfrm>
            <a:off x="5667550" y="1681613"/>
            <a:ext cx="2716500" cy="54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taatliches"/>
              <a:buNone/>
              <a:defRPr sz="2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9" name="Google Shape;189;p31"/>
          <p:cNvSpPr txBox="1"/>
          <p:nvPr>
            <p:ph idx="2" type="body"/>
          </p:nvPr>
        </p:nvSpPr>
        <p:spPr>
          <a:xfrm>
            <a:off x="5667550" y="2226788"/>
            <a:ext cx="23664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31"/>
          <p:cNvSpPr txBox="1"/>
          <p:nvPr>
            <p:ph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91" name="Google Shape;191;p31"/>
          <p:cNvCxnSpPr/>
          <p:nvPr/>
        </p:nvCxnSpPr>
        <p:spPr>
          <a:xfrm>
            <a:off x="1147475" y="0"/>
            <a:ext cx="0" cy="5187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and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2152200" y="1058375"/>
            <a:ext cx="4839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4" name="Google Shape;194;p32"/>
          <p:cNvSpPr txBox="1"/>
          <p:nvPr>
            <p:ph idx="1" type="subTitle"/>
          </p:nvPr>
        </p:nvSpPr>
        <p:spPr>
          <a:xfrm>
            <a:off x="2939700" y="1826800"/>
            <a:ext cx="32646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5" name="Google Shape;195;p32"/>
          <p:cNvSpPr txBox="1"/>
          <p:nvPr/>
        </p:nvSpPr>
        <p:spPr>
          <a:xfrm>
            <a:off x="3332700" y="2853375"/>
            <a:ext cx="24786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lang="en" sz="1000">
                <a:solidFill>
                  <a:schemeClr val="accent5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lang="en" sz="1000">
                <a:solidFill>
                  <a:schemeClr val="accent5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lang="en" sz="1000">
                <a:solidFill>
                  <a:schemeClr val="accent5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0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BIG_NUMBER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6DCFD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Staatliches"/>
              <a:buNone/>
              <a:defRPr sz="2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/>
              <a:buChar char="■"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jp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jp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jp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ctrTitle"/>
          </p:nvPr>
        </p:nvSpPr>
        <p:spPr>
          <a:xfrm>
            <a:off x="1427050" y="698850"/>
            <a:ext cx="6189600" cy="21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/>
              <a:t>AQUA ANALYSTS</a:t>
            </a:r>
            <a:endParaRPr sz="9000">
              <a:solidFill>
                <a:schemeClr val="lt1"/>
              </a:solidFill>
            </a:endParaRPr>
          </a:p>
        </p:txBody>
      </p:sp>
      <p:sp>
        <p:nvSpPr>
          <p:cNvPr id="205" name="Google Shape;205;p37"/>
          <p:cNvSpPr txBox="1"/>
          <p:nvPr>
            <p:ph idx="1" type="subTitle"/>
          </p:nvPr>
        </p:nvSpPr>
        <p:spPr>
          <a:xfrm>
            <a:off x="1284100" y="2971050"/>
            <a:ext cx="6475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Drshika Chenna, Mrinalika Ampagowni, Shraddha Gangaram and Tanvi Nair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206" name="Google Shape;206;p37"/>
          <p:cNvCxnSpPr/>
          <p:nvPr/>
        </p:nvCxnSpPr>
        <p:spPr>
          <a:xfrm rot="10800000">
            <a:off x="2680100" y="797125"/>
            <a:ext cx="2810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37"/>
          <p:cNvCxnSpPr/>
          <p:nvPr/>
        </p:nvCxnSpPr>
        <p:spPr>
          <a:xfrm rot="10800000">
            <a:off x="4775975" y="797193"/>
            <a:ext cx="1687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37"/>
          <p:cNvCxnSpPr/>
          <p:nvPr/>
        </p:nvCxnSpPr>
        <p:spPr>
          <a:xfrm rot="10800000">
            <a:off x="2675700" y="4407750"/>
            <a:ext cx="3792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/>
          <p:nvPr>
            <p:ph idx="21" type="title"/>
          </p:nvPr>
        </p:nvSpPr>
        <p:spPr>
          <a:xfrm rot="-5400000">
            <a:off x="-1617675" y="2285400"/>
            <a:ext cx="434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214" name="Google Shape;214;p38"/>
          <p:cNvSpPr txBox="1"/>
          <p:nvPr>
            <p:ph type="title"/>
          </p:nvPr>
        </p:nvSpPr>
        <p:spPr>
          <a:xfrm>
            <a:off x="1202325" y="555812"/>
            <a:ext cx="1057200" cy="5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01</a:t>
            </a:r>
            <a:endParaRPr sz="2000"/>
          </a:p>
        </p:txBody>
      </p:sp>
      <p:sp>
        <p:nvSpPr>
          <p:cNvPr id="215" name="Google Shape;215;p38"/>
          <p:cNvSpPr txBox="1"/>
          <p:nvPr>
            <p:ph idx="2" type="title"/>
          </p:nvPr>
        </p:nvSpPr>
        <p:spPr>
          <a:xfrm>
            <a:off x="2449800" y="641612"/>
            <a:ext cx="40452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Introduction &amp; Dataset Overview</a:t>
            </a:r>
            <a:endParaRPr sz="2000"/>
          </a:p>
        </p:txBody>
      </p:sp>
      <p:sp>
        <p:nvSpPr>
          <p:cNvPr id="216" name="Google Shape;216;p38"/>
          <p:cNvSpPr txBox="1"/>
          <p:nvPr>
            <p:ph idx="3" type="title"/>
          </p:nvPr>
        </p:nvSpPr>
        <p:spPr>
          <a:xfrm>
            <a:off x="1202325" y="1203512"/>
            <a:ext cx="1057200" cy="5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02</a:t>
            </a:r>
            <a:endParaRPr sz="2000"/>
          </a:p>
        </p:txBody>
      </p:sp>
      <p:sp>
        <p:nvSpPr>
          <p:cNvPr id="217" name="Google Shape;217;p38"/>
          <p:cNvSpPr txBox="1"/>
          <p:nvPr>
            <p:ph idx="4" type="title"/>
          </p:nvPr>
        </p:nvSpPr>
        <p:spPr>
          <a:xfrm>
            <a:off x="2449800" y="1289437"/>
            <a:ext cx="40452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ANALYSIS OBJECTIVEs</a:t>
            </a:r>
            <a:endParaRPr sz="2000"/>
          </a:p>
        </p:txBody>
      </p:sp>
      <p:sp>
        <p:nvSpPr>
          <p:cNvPr id="218" name="Google Shape;218;p38"/>
          <p:cNvSpPr txBox="1"/>
          <p:nvPr>
            <p:ph idx="6" type="title"/>
          </p:nvPr>
        </p:nvSpPr>
        <p:spPr>
          <a:xfrm>
            <a:off x="1202325" y="1851212"/>
            <a:ext cx="1057200" cy="5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03</a:t>
            </a:r>
            <a:endParaRPr sz="2000"/>
          </a:p>
        </p:txBody>
      </p:sp>
      <p:sp>
        <p:nvSpPr>
          <p:cNvPr id="219" name="Google Shape;219;p38"/>
          <p:cNvSpPr txBox="1"/>
          <p:nvPr>
            <p:ph idx="7" type="title"/>
          </p:nvPr>
        </p:nvSpPr>
        <p:spPr>
          <a:xfrm>
            <a:off x="2449800" y="1937137"/>
            <a:ext cx="40452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Data preparation &amp; cleaning</a:t>
            </a:r>
            <a:endParaRPr sz="2000"/>
          </a:p>
        </p:txBody>
      </p:sp>
      <p:sp>
        <p:nvSpPr>
          <p:cNvPr id="220" name="Google Shape;220;p38"/>
          <p:cNvSpPr txBox="1"/>
          <p:nvPr>
            <p:ph idx="9" type="title"/>
          </p:nvPr>
        </p:nvSpPr>
        <p:spPr>
          <a:xfrm>
            <a:off x="1202325" y="2498912"/>
            <a:ext cx="1057200" cy="5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04</a:t>
            </a:r>
            <a:endParaRPr sz="2000"/>
          </a:p>
        </p:txBody>
      </p:sp>
      <p:sp>
        <p:nvSpPr>
          <p:cNvPr id="221" name="Google Shape;221;p38"/>
          <p:cNvSpPr txBox="1"/>
          <p:nvPr>
            <p:ph idx="13" type="title"/>
          </p:nvPr>
        </p:nvSpPr>
        <p:spPr>
          <a:xfrm>
            <a:off x="2449800" y="2584837"/>
            <a:ext cx="40452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Visual Data insights</a:t>
            </a:r>
            <a:endParaRPr sz="2000"/>
          </a:p>
        </p:txBody>
      </p:sp>
      <p:sp>
        <p:nvSpPr>
          <p:cNvPr id="222" name="Google Shape;222;p38"/>
          <p:cNvSpPr txBox="1"/>
          <p:nvPr>
            <p:ph idx="15" type="title"/>
          </p:nvPr>
        </p:nvSpPr>
        <p:spPr>
          <a:xfrm>
            <a:off x="1202325" y="3146612"/>
            <a:ext cx="1057200" cy="5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05</a:t>
            </a:r>
            <a:endParaRPr sz="2000"/>
          </a:p>
        </p:txBody>
      </p:sp>
      <p:sp>
        <p:nvSpPr>
          <p:cNvPr id="223" name="Google Shape;223;p38"/>
          <p:cNvSpPr txBox="1"/>
          <p:nvPr>
            <p:ph idx="16" type="title"/>
          </p:nvPr>
        </p:nvSpPr>
        <p:spPr>
          <a:xfrm>
            <a:off x="2449800" y="3232537"/>
            <a:ext cx="40452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Regression modelling</a:t>
            </a:r>
            <a:endParaRPr sz="2000"/>
          </a:p>
        </p:txBody>
      </p:sp>
      <p:sp>
        <p:nvSpPr>
          <p:cNvPr id="224" name="Google Shape;224;p38"/>
          <p:cNvSpPr txBox="1"/>
          <p:nvPr>
            <p:ph idx="18" type="title"/>
          </p:nvPr>
        </p:nvSpPr>
        <p:spPr>
          <a:xfrm>
            <a:off x="1202325" y="3794312"/>
            <a:ext cx="1057200" cy="5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06</a:t>
            </a:r>
            <a:endParaRPr sz="2000"/>
          </a:p>
        </p:txBody>
      </p:sp>
      <p:sp>
        <p:nvSpPr>
          <p:cNvPr id="225" name="Google Shape;225;p38"/>
          <p:cNvSpPr txBox="1"/>
          <p:nvPr>
            <p:ph idx="19" type="title"/>
          </p:nvPr>
        </p:nvSpPr>
        <p:spPr>
          <a:xfrm>
            <a:off x="2449800" y="3880237"/>
            <a:ext cx="4045200" cy="4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Future research &amp; CONCLUSION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/>
          <p:nvPr>
            <p:ph type="title"/>
          </p:nvPr>
        </p:nvSpPr>
        <p:spPr>
          <a:xfrm>
            <a:off x="1512800" y="2723225"/>
            <a:ext cx="6084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dataset Overview</a:t>
            </a:r>
            <a:endParaRPr/>
          </a:p>
        </p:txBody>
      </p:sp>
      <p:sp>
        <p:nvSpPr>
          <p:cNvPr id="231" name="Google Shape;231;p39"/>
          <p:cNvSpPr txBox="1"/>
          <p:nvPr>
            <p:ph idx="2" type="title"/>
          </p:nvPr>
        </p:nvSpPr>
        <p:spPr>
          <a:xfrm>
            <a:off x="1849450" y="1178125"/>
            <a:ext cx="52434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type="title"/>
          </p:nvPr>
        </p:nvSpPr>
        <p:spPr>
          <a:xfrm>
            <a:off x="3377450" y="621950"/>
            <a:ext cx="5401500" cy="47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Oswald"/>
                <a:ea typeface="Oswald"/>
                <a:cs typeface="Oswald"/>
                <a:sym typeface="Oswald"/>
              </a:rPr>
              <a:t>Water scarcity affects billions worldwide, driven by population growth, agriculture, and climate variability. 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900">
                <a:latin typeface="Oswald"/>
                <a:ea typeface="Oswald"/>
                <a:cs typeface="Oswald"/>
                <a:sym typeface="Oswald"/>
              </a:rPr>
              <a:t>Our analysis aims to uncover how different factors — like rainfall, industrial use, and groundwater depletion — influence total water consumption globally.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Oswald"/>
                <a:ea typeface="Oswald"/>
                <a:cs typeface="Oswald"/>
                <a:sym typeface="Oswald"/>
              </a:rPr>
              <a:t>Time Period: 2000 to 2024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Oswald"/>
                <a:ea typeface="Oswald"/>
                <a:cs typeface="Oswald"/>
                <a:sym typeface="Oswald"/>
              </a:rPr>
              <a:t>Scope: 20 countries, 500 observations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Oswald"/>
                <a:ea typeface="Oswald"/>
                <a:cs typeface="Oswald"/>
                <a:sym typeface="Oswald"/>
              </a:rPr>
              <a:t>Variables: 9 total (1 response variable + 8 predictors)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latin typeface="Oswald"/>
                <a:ea typeface="Oswald"/>
                <a:cs typeface="Oswald"/>
                <a:sym typeface="Oswald"/>
              </a:rPr>
              <a:t>Source: Kaggle (Global Water Consumption Dataset)</a:t>
            </a:r>
            <a:endParaRPr sz="19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grpSp>
        <p:nvGrpSpPr>
          <p:cNvPr id="237" name="Google Shape;237;p40"/>
          <p:cNvGrpSpPr/>
          <p:nvPr/>
        </p:nvGrpSpPr>
        <p:grpSpPr>
          <a:xfrm>
            <a:off x="1265274" y="1471636"/>
            <a:ext cx="1700251" cy="2300061"/>
            <a:chOff x="1768700" y="238125"/>
            <a:chExt cx="4080275" cy="5238125"/>
          </a:xfrm>
        </p:grpSpPr>
        <p:sp>
          <p:nvSpPr>
            <p:cNvPr id="238" name="Google Shape;238;p40"/>
            <p:cNvSpPr/>
            <p:nvPr/>
          </p:nvSpPr>
          <p:spPr>
            <a:xfrm>
              <a:off x="1768700" y="238125"/>
              <a:ext cx="2930650" cy="5238125"/>
            </a:xfrm>
            <a:custGeom>
              <a:rect b="b" l="l" r="r" t="t"/>
              <a:pathLst>
                <a:path extrusionOk="0" h="209525" w="117226">
                  <a:moveTo>
                    <a:pt x="70469" y="0"/>
                  </a:moveTo>
                  <a:cubicBezTo>
                    <a:pt x="70469" y="0"/>
                    <a:pt x="0" y="100138"/>
                    <a:pt x="0" y="139058"/>
                  </a:cubicBezTo>
                  <a:cubicBezTo>
                    <a:pt x="0" y="177976"/>
                    <a:pt x="31551" y="209525"/>
                    <a:pt x="70469" y="209525"/>
                  </a:cubicBezTo>
                  <a:cubicBezTo>
                    <a:pt x="88413" y="209525"/>
                    <a:pt x="104782" y="202806"/>
                    <a:pt x="117226" y="191760"/>
                  </a:cubicBezTo>
                  <a:cubicBezTo>
                    <a:pt x="89538" y="187980"/>
                    <a:pt x="68198" y="164251"/>
                    <a:pt x="68198" y="135526"/>
                  </a:cubicBezTo>
                  <a:cubicBezTo>
                    <a:pt x="68198" y="116691"/>
                    <a:pt x="88680" y="80067"/>
                    <a:pt x="105039" y="53814"/>
                  </a:cubicBezTo>
                  <a:cubicBezTo>
                    <a:pt x="87645" y="24413"/>
                    <a:pt x="70469" y="0"/>
                    <a:pt x="704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0"/>
            <p:cNvSpPr/>
            <p:nvPr/>
          </p:nvSpPr>
          <p:spPr>
            <a:xfrm>
              <a:off x="3937125" y="1780575"/>
              <a:ext cx="1911850" cy="2842250"/>
            </a:xfrm>
            <a:custGeom>
              <a:rect b="b" l="l" r="r" t="t"/>
              <a:pathLst>
                <a:path extrusionOk="0" h="113690" w="76474">
                  <a:moveTo>
                    <a:pt x="38234" y="1"/>
                  </a:moveTo>
                  <a:cubicBezTo>
                    <a:pt x="38234" y="1"/>
                    <a:pt x="0" y="54335"/>
                    <a:pt x="0" y="75453"/>
                  </a:cubicBezTo>
                  <a:cubicBezTo>
                    <a:pt x="0" y="96571"/>
                    <a:pt x="17119" y="113690"/>
                    <a:pt x="38237" y="113690"/>
                  </a:cubicBezTo>
                  <a:cubicBezTo>
                    <a:pt x="59355" y="113690"/>
                    <a:pt x="76474" y="96571"/>
                    <a:pt x="76474" y="75453"/>
                  </a:cubicBezTo>
                  <a:cubicBezTo>
                    <a:pt x="76474" y="54337"/>
                    <a:pt x="38234" y="1"/>
                    <a:pt x="382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 txBox="1"/>
          <p:nvPr>
            <p:ph type="title"/>
          </p:nvPr>
        </p:nvSpPr>
        <p:spPr>
          <a:xfrm>
            <a:off x="2152200" y="2723225"/>
            <a:ext cx="483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OBJECTIVE</a:t>
            </a:r>
            <a:endParaRPr/>
          </a:p>
        </p:txBody>
      </p:sp>
      <p:sp>
        <p:nvSpPr>
          <p:cNvPr id="245" name="Google Shape;245;p41"/>
          <p:cNvSpPr txBox="1"/>
          <p:nvPr>
            <p:ph idx="2" type="title"/>
          </p:nvPr>
        </p:nvSpPr>
        <p:spPr>
          <a:xfrm>
            <a:off x="1950300" y="1178125"/>
            <a:ext cx="52434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/>
          <p:nvPr>
            <p:ph idx="1" type="body"/>
          </p:nvPr>
        </p:nvSpPr>
        <p:spPr>
          <a:xfrm>
            <a:off x="441700" y="355825"/>
            <a:ext cx="8242800" cy="45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latin typeface="Oswald"/>
                <a:ea typeface="Oswald"/>
                <a:cs typeface="Oswald"/>
                <a:sym typeface="Oswald"/>
              </a:rPr>
              <a:t>ANALYSIS QUESTIONS:</a:t>
            </a:r>
            <a:endParaRPr b="1" sz="1800"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swald"/>
              <a:buAutoNum type="arabicPeriod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Are any predictors statistically significant in explaining total water consumption?</a:t>
            </a:r>
            <a:br>
              <a:rPr lang="en" sz="1800">
                <a:latin typeface="Oswald"/>
                <a:ea typeface="Oswald"/>
                <a:cs typeface="Oswald"/>
                <a:sym typeface="Oswald"/>
              </a:rPr>
            </a:b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swald"/>
              <a:buAutoNum type="arabicPeriod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How does total water consumption differ by water scarcity level (low, moderate, high)?</a:t>
            </a:r>
            <a:br>
              <a:rPr lang="en" sz="1800">
                <a:latin typeface="Oswald"/>
                <a:ea typeface="Oswald"/>
                <a:cs typeface="Oswald"/>
                <a:sym typeface="Oswald"/>
              </a:rPr>
            </a:b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swald"/>
              <a:buAutoNum type="arabicPeriod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Has total water consumption changed across the time periods 2000–2008, 2009–2016, and 2017–2024?</a:t>
            </a:r>
            <a:br>
              <a:rPr lang="en" sz="1800">
                <a:latin typeface="Oswald"/>
                <a:ea typeface="Oswald"/>
                <a:cs typeface="Oswald"/>
                <a:sym typeface="Oswald"/>
              </a:rPr>
            </a:b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swald"/>
              <a:buAutoNum type="arabicPeriod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How do agricultural, industrial, and household water use relate to total water consumption?</a:t>
            </a:r>
            <a:br>
              <a:rPr lang="en" sz="1800">
                <a:latin typeface="Oswald"/>
                <a:ea typeface="Oswald"/>
                <a:cs typeface="Oswald"/>
                <a:sym typeface="Oswald"/>
              </a:rPr>
            </a:b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swald"/>
              <a:buAutoNum type="arabicPeriod"/>
            </a:pPr>
            <a:r>
              <a:rPr lang="en" sz="1800">
                <a:latin typeface="Oswald"/>
                <a:ea typeface="Oswald"/>
                <a:cs typeface="Oswald"/>
                <a:sym typeface="Oswald"/>
              </a:rPr>
              <a:t>Does increased rainfall correspond to lower groundwater depletion?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type="title"/>
          </p:nvPr>
        </p:nvSpPr>
        <p:spPr>
          <a:xfrm>
            <a:off x="1602950" y="2803600"/>
            <a:ext cx="57588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 and Cleaning</a:t>
            </a:r>
            <a:endParaRPr/>
          </a:p>
        </p:txBody>
      </p:sp>
      <p:sp>
        <p:nvSpPr>
          <p:cNvPr id="256" name="Google Shape;256;p43"/>
          <p:cNvSpPr txBox="1"/>
          <p:nvPr>
            <p:ph idx="2" type="title"/>
          </p:nvPr>
        </p:nvSpPr>
        <p:spPr>
          <a:xfrm>
            <a:off x="1860650" y="1320400"/>
            <a:ext cx="52434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4"/>
          <p:cNvSpPr txBox="1"/>
          <p:nvPr>
            <p:ph idx="1" type="body"/>
          </p:nvPr>
        </p:nvSpPr>
        <p:spPr>
          <a:xfrm>
            <a:off x="586050" y="187275"/>
            <a:ext cx="7971900" cy="45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Staatliches"/>
                <a:ea typeface="Staatliches"/>
                <a:cs typeface="Staatliches"/>
                <a:sym typeface="Staatliches"/>
              </a:rPr>
              <a:t>Data PREprocessing &amp; Cleaning:</a:t>
            </a:r>
            <a:endParaRPr b="1"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Oswald"/>
                <a:ea typeface="Oswald"/>
                <a:cs typeface="Oswald"/>
                <a:sym typeface="Oswald"/>
              </a:rPr>
              <a:t>Before modeling, we performed light preprocessing on the cleaned dataset. No missing values were detected, and all variables were already well-structured.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Oswald"/>
                <a:ea typeface="Oswald"/>
                <a:cs typeface="Oswald"/>
                <a:sym typeface="Oswald"/>
              </a:rPr>
              <a:t>Checked for missing data using colSums(is.na(df))</a:t>
            </a:r>
            <a:br>
              <a:rPr lang="en" sz="1600">
                <a:latin typeface="Oswald"/>
                <a:ea typeface="Oswald"/>
                <a:cs typeface="Oswald"/>
                <a:sym typeface="Oswald"/>
              </a:rPr>
            </a:br>
            <a:r>
              <a:rPr lang="en" sz="1600">
                <a:latin typeface="Oswald"/>
                <a:ea typeface="Oswald"/>
                <a:cs typeface="Oswald"/>
                <a:sym typeface="Oswald"/>
              </a:rPr>
              <a:t> → Result: No missing values present</a:t>
            </a:r>
            <a:br>
              <a:rPr lang="en" sz="1600">
                <a:latin typeface="Oswald"/>
                <a:ea typeface="Oswald"/>
                <a:cs typeface="Oswald"/>
                <a:sym typeface="Oswald"/>
              </a:rPr>
            </a:br>
            <a:br>
              <a:rPr lang="en" sz="1600">
                <a:latin typeface="Oswald"/>
                <a:ea typeface="Oswald"/>
                <a:cs typeface="Oswald"/>
                <a:sym typeface="Oswald"/>
              </a:rPr>
            </a:br>
            <a:r>
              <a:rPr lang="en" sz="1600">
                <a:latin typeface="Oswald"/>
                <a:ea typeface="Oswald"/>
                <a:cs typeface="Oswald"/>
                <a:sym typeface="Oswald"/>
              </a:rPr>
              <a:t>Converted categorical variables to numeric to support modeling: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Oswald"/>
                <a:ea typeface="Oswald"/>
                <a:cs typeface="Oswald"/>
                <a:sym typeface="Oswald"/>
              </a:rPr>
              <a:t>"Country" and "Water Scarcity Level" were converted from factor to numeric</a:t>
            </a:r>
            <a:br>
              <a:rPr lang="en" sz="1600">
                <a:latin typeface="Oswald"/>
                <a:ea typeface="Oswald"/>
                <a:cs typeface="Oswald"/>
                <a:sym typeface="Oswald"/>
              </a:rPr>
            </a:br>
            <a:r>
              <a:rPr lang="en" sz="1600">
                <a:latin typeface="Oswald"/>
                <a:ea typeface="Oswald"/>
                <a:cs typeface="Oswald"/>
                <a:sym typeface="Oswald"/>
              </a:rPr>
              <a:t>"Year Group" was created to group individual years into three meaningful time periods:</a:t>
            </a:r>
            <a:br>
              <a:rPr lang="en" sz="1600">
                <a:latin typeface="Oswald"/>
                <a:ea typeface="Oswald"/>
                <a:cs typeface="Oswald"/>
                <a:sym typeface="Oswald"/>
              </a:rPr>
            </a:br>
            <a:r>
              <a:rPr lang="en" sz="1600">
                <a:latin typeface="Oswald"/>
                <a:ea typeface="Oswald"/>
                <a:cs typeface="Oswald"/>
                <a:sym typeface="Oswald"/>
              </a:rPr>
              <a:t> 2000–2008, 2009–2016, and 2017–2024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Oswald"/>
                <a:ea typeface="Oswald"/>
                <a:cs typeface="Oswald"/>
                <a:sym typeface="Oswald"/>
              </a:rPr>
              <a:t>Renamed columns to improve clarity and visual presentation (e.g., from "Industrial.Water.Use...." to "Industrial Water Use")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3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/>
          <p:nvPr>
            <p:ph type="title"/>
          </p:nvPr>
        </p:nvSpPr>
        <p:spPr>
          <a:xfrm>
            <a:off x="2152200" y="3018900"/>
            <a:ext cx="483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Data insights</a:t>
            </a:r>
            <a:endParaRPr/>
          </a:p>
        </p:txBody>
      </p:sp>
      <p:sp>
        <p:nvSpPr>
          <p:cNvPr id="267" name="Google Shape;267;p45"/>
          <p:cNvSpPr txBox="1"/>
          <p:nvPr>
            <p:ph idx="2" type="title"/>
          </p:nvPr>
        </p:nvSpPr>
        <p:spPr>
          <a:xfrm>
            <a:off x="1950300" y="1466075"/>
            <a:ext cx="52434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6"/>
          <p:cNvPicPr preferRelativeResize="0"/>
          <p:nvPr/>
        </p:nvPicPr>
        <p:blipFill rotWithShape="1">
          <a:blip r:embed="rId3">
            <a:alphaModFix/>
          </a:blip>
          <a:srcRect b="0" l="0" r="49812" t="0"/>
          <a:stretch/>
        </p:blipFill>
        <p:spPr>
          <a:xfrm>
            <a:off x="196725" y="416175"/>
            <a:ext cx="3479926" cy="427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6"/>
          <p:cNvSpPr txBox="1"/>
          <p:nvPr/>
        </p:nvSpPr>
        <p:spPr>
          <a:xfrm>
            <a:off x="3852000" y="331925"/>
            <a:ext cx="47487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Histogram of Total Water Consumption</a:t>
            </a:r>
            <a:endParaRPr b="1" sz="23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274" name="Google Shape;274;p46"/>
          <p:cNvSpPr txBox="1"/>
          <p:nvPr/>
        </p:nvSpPr>
        <p:spPr>
          <a:xfrm>
            <a:off x="3852000" y="921900"/>
            <a:ext cx="49587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This histogram displays the frequency distribution of total water consumption (in Billion Cubic Meters).</a:t>
            </a:r>
            <a:b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blue line overlaid on the histogram is a density curve (a smoothed version of the distribution).</a:t>
            </a:r>
            <a:b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shape is approximately bell-curved, indicating a normal-like distribution, but with slight skewness to the left.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</a:t>
            </a: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: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swald"/>
              <a:buChar char="●"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Most values of total water consumption fall between 400 and 600 billion cubic meters.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swald"/>
              <a:buChar char="●"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distribution is roughly symmetric, with a slight peak and minor skew.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swald"/>
              <a:buChar char="●"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presence of a smooth density curve suggests the data is relatively continuous and could be appropriate for normal-based statistical analysis.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47"/>
          <p:cNvPicPr preferRelativeResize="0"/>
          <p:nvPr/>
        </p:nvPicPr>
        <p:blipFill rotWithShape="1">
          <a:blip r:embed="rId3">
            <a:alphaModFix/>
          </a:blip>
          <a:srcRect b="0" l="48773" r="0" t="0"/>
          <a:stretch/>
        </p:blipFill>
        <p:spPr>
          <a:xfrm>
            <a:off x="336200" y="275400"/>
            <a:ext cx="3573399" cy="46451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7"/>
          <p:cNvSpPr txBox="1"/>
          <p:nvPr/>
        </p:nvSpPr>
        <p:spPr>
          <a:xfrm>
            <a:off x="4099500" y="317825"/>
            <a:ext cx="5044500" cy="4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Q-Q Plot of Total Water Consumption</a:t>
            </a:r>
            <a:endParaRPr b="1" sz="23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Q-Q Plot Compares actual water consumption data to a normal distribution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Most points align with the diagonal line → middle values are roughly normal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There are deviations at the ends (e.g., ~160 and ~105) → slight non-normality in tails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This suggests that the data is mostly normal with minor irregularities at extremes. 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Interpretation: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middle quantiles (central data points) closely follow the line, indicating that the central distribution is approximately normal.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tails deviate slightly, especially at the low end (~160) and high end (~105), suggesting mild non-normality or outliers in extreme values.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Overall, this indicates the data is approximately normally distributed, but with slight deviations at the tails.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900" y="302950"/>
            <a:ext cx="7352599" cy="453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9"/>
          <p:cNvSpPr txBox="1"/>
          <p:nvPr/>
        </p:nvSpPr>
        <p:spPr>
          <a:xfrm>
            <a:off x="621050" y="234750"/>
            <a:ext cx="2324100" cy="1440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Per Capita Water Use: 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points are dispersed, and the trend line is mostly flat.</a:t>
            </a: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Interpretation: Weak or no clear linear relationship with total water consumption.</a:t>
            </a: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1" name="Google Shape;291;p49"/>
          <p:cNvSpPr txBox="1"/>
          <p:nvPr/>
        </p:nvSpPr>
        <p:spPr>
          <a:xfrm>
            <a:off x="6032475" y="234725"/>
            <a:ext cx="2324100" cy="1440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Industrial Water Use:                </a:t>
            </a: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Flat trend line.</a:t>
            </a:r>
            <a:b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Interpretation: No clear trend.water use for agriculture doesn’t strongly predict total consumption linearly.</a:t>
            </a: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49"/>
          <p:cNvSpPr txBox="1"/>
          <p:nvPr/>
        </p:nvSpPr>
        <p:spPr>
          <a:xfrm>
            <a:off x="6032475" y="1878775"/>
            <a:ext cx="2324100" cy="1440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Groundwater Depletion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Mostly flat trend.</a:t>
            </a:r>
            <a:b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Interpretation: Again, no strong relationship with total water use.</a:t>
            </a: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3" name="Google Shape;293;p49"/>
          <p:cNvSpPr txBox="1"/>
          <p:nvPr/>
        </p:nvSpPr>
        <p:spPr>
          <a:xfrm>
            <a:off x="3326775" y="234750"/>
            <a:ext cx="2387400" cy="1440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Agricultural Water Use : 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Points are dense around the mean; trend line is flat.</a:t>
            </a:r>
            <a:b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Interpretation: No clear trend.water use for agriculture doesn’t strongly predict total consumption linearly.</a:t>
            </a: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49"/>
          <p:cNvSpPr txBox="1"/>
          <p:nvPr/>
        </p:nvSpPr>
        <p:spPr>
          <a:xfrm>
            <a:off x="621050" y="1851450"/>
            <a:ext cx="2324100" cy="1440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Household Water Use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Weak, possibly slightly positive linear pattern.</a:t>
            </a:r>
            <a:b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Interpretation: Weak-to-moderate positive association.</a:t>
            </a: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9"/>
          <p:cNvSpPr txBox="1"/>
          <p:nvPr/>
        </p:nvSpPr>
        <p:spPr>
          <a:xfrm>
            <a:off x="6032475" y="3522825"/>
            <a:ext cx="2324100" cy="1440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Year (2000–2025):                     </a:t>
            </a: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Slight upward trend, but noisy.</a:t>
            </a:r>
            <a:b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Interpretation: Over time, total water consumption may be slowly increasing, though variability is high.</a:t>
            </a: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6" name="Google Shape;296;p49"/>
          <p:cNvSpPr txBox="1"/>
          <p:nvPr/>
        </p:nvSpPr>
        <p:spPr>
          <a:xfrm>
            <a:off x="3377150" y="3522850"/>
            <a:ext cx="2324100" cy="1440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Water Scarcity Level (likely ordinal: 1, 2, 3)      </a:t>
            </a:r>
            <a:r>
              <a:rPr b="1"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                             </a:t>
            </a: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Slightly Upward Trend</a:t>
            </a:r>
            <a:b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Interpretation: Scarcity level could possibly predict total use.</a:t>
            </a: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7" name="Google Shape;297;p49"/>
          <p:cNvSpPr txBox="1"/>
          <p:nvPr/>
        </p:nvSpPr>
        <p:spPr>
          <a:xfrm>
            <a:off x="621050" y="3522825"/>
            <a:ext cx="2324100" cy="1440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Country (encoded 1–20)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Trend line is flat; points spread evenly.Interpretation: No one country dominates the total water usage trend — consistent with balanced data or dummy-coded variables.</a:t>
            </a:r>
            <a:endParaRPr sz="11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8" name="Google Shape;298;p49"/>
          <p:cNvSpPr txBox="1"/>
          <p:nvPr/>
        </p:nvSpPr>
        <p:spPr>
          <a:xfrm>
            <a:off x="3326775" y="1878800"/>
            <a:ext cx="2374500" cy="14406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Rainfall Impact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trend line is flat.</a:t>
            </a:r>
            <a:b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2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Interpretation: No meaningful linear relationship between rainfall and water consumption.</a:t>
            </a: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50"/>
          <p:cNvPicPr preferRelativeResize="0"/>
          <p:nvPr/>
        </p:nvPicPr>
        <p:blipFill rotWithShape="1">
          <a:blip r:embed="rId4">
            <a:alphaModFix/>
          </a:blip>
          <a:srcRect b="0" l="3958" r="55363" t="0"/>
          <a:stretch/>
        </p:blipFill>
        <p:spPr>
          <a:xfrm>
            <a:off x="589875" y="289000"/>
            <a:ext cx="2684725" cy="23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50"/>
          <p:cNvPicPr preferRelativeResize="0"/>
          <p:nvPr/>
        </p:nvPicPr>
        <p:blipFill rotWithShape="1">
          <a:blip r:embed="rId4">
            <a:alphaModFix/>
          </a:blip>
          <a:srcRect b="14001" l="45827" r="10682" t="0"/>
          <a:stretch/>
        </p:blipFill>
        <p:spPr>
          <a:xfrm>
            <a:off x="589875" y="2783062"/>
            <a:ext cx="2684725" cy="210063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0"/>
          <p:cNvSpPr txBox="1"/>
          <p:nvPr/>
        </p:nvSpPr>
        <p:spPr>
          <a:xfrm>
            <a:off x="3535325" y="198250"/>
            <a:ext cx="5459400" cy="48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Variance Inflation Factor (VIF) analysis </a:t>
            </a:r>
            <a:br>
              <a:rPr b="1" lang="en" sz="21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</a:br>
            <a:br>
              <a:rPr lang="en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</a:b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</a:t>
            </a: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o assess multicollinearity among the nine predictors in our multiple linear regression model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All VIF values ranged between 1.008 and 1.089, indicating very low correlation among predictors.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Since all VIFs are well below the common threshold of 5, we concluded that: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swald"/>
              <a:buChar char="●"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There is no multicollinearity concern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swald"/>
              <a:buChar char="●"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All variables can be safely included in the regression model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This ensures that our coefficient estimates are stable and reliable, allowing us to interpret the model without needing to remove or combine any predictors.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1"/>
          <p:cNvSpPr txBox="1"/>
          <p:nvPr>
            <p:ph type="title"/>
          </p:nvPr>
        </p:nvSpPr>
        <p:spPr>
          <a:xfrm>
            <a:off x="2152200" y="3018900"/>
            <a:ext cx="4839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Modeling</a:t>
            </a:r>
            <a:endParaRPr/>
          </a:p>
        </p:txBody>
      </p:sp>
      <p:sp>
        <p:nvSpPr>
          <p:cNvPr id="311" name="Google Shape;311;p51"/>
          <p:cNvSpPr txBox="1"/>
          <p:nvPr>
            <p:ph idx="2" type="title"/>
          </p:nvPr>
        </p:nvSpPr>
        <p:spPr>
          <a:xfrm>
            <a:off x="1950300" y="1466075"/>
            <a:ext cx="52434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52"/>
          <p:cNvPicPr preferRelativeResize="0"/>
          <p:nvPr/>
        </p:nvPicPr>
        <p:blipFill rotWithShape="1">
          <a:blip r:embed="rId4">
            <a:alphaModFix/>
          </a:blip>
          <a:srcRect b="0" l="0" r="0" t="7902"/>
          <a:stretch/>
        </p:blipFill>
        <p:spPr>
          <a:xfrm>
            <a:off x="1066800" y="382300"/>
            <a:ext cx="6894525" cy="445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3"/>
          <p:cNvSpPr txBox="1"/>
          <p:nvPr/>
        </p:nvSpPr>
        <p:spPr>
          <a:xfrm>
            <a:off x="736050" y="-82850"/>
            <a:ext cx="7822200" cy="4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We fit a multiple linear regression model using nine predictors to explain variation in Total Water Consumption across countries and years.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Key Findings: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only statistically significant predictor was Water Scarcity Level </a:t>
            </a:r>
            <a:r>
              <a:rPr i="1"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(p = 0.0312)</a:t>
            </a: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, suggesting that water scarcity classification meaningfully affects a country’s total water consumption.</a:t>
            </a:r>
            <a:b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All other predictors, including Per Capita Water Use, Agricultural Use, Rainfall, and Year, had p-values &gt; 0.05, indicating no strong individual effects in this model.</a:t>
            </a:r>
            <a:b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Adjusted R² = 0.0032, implies that the model explains less than 1% of the variation in water consumption.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This suggests that while Water Scarcity Level has some explanatory power, the current model may be missing key predictors or the relationship is more complex (nonlinear or interaction effects).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Conclusion: Although multicollinearity is not an issue (VIFs all &lt; 1.1), the overall model has low explanatory power, and most predictors are not statistically significant.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550" y="304800"/>
            <a:ext cx="796290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/>
          <p:nvPr/>
        </p:nvSpPr>
        <p:spPr>
          <a:xfrm>
            <a:off x="537875" y="392200"/>
            <a:ext cx="7890600" cy="4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Regression Equation</a:t>
            </a:r>
            <a:endParaRPr b="1"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This means the model is: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Total Water Consumption = 455.996 + 16.851 × Water Scarcity Level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So, for every 1-unit increase in water scarcity level, total water consumption increases by ~16.85 billion cubic meters. </a:t>
            </a: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455.996</a:t>
            </a: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is the </a:t>
            </a: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intercept which </a:t>
            </a: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represents the theoretical </a:t>
            </a: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predicted total water consumption</a:t>
            </a: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when the water scarcity level = 0 (but level 0 doesn’t occur in real data).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Coefficient Significance</a:t>
            </a:r>
            <a:endParaRPr b="1"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 value = 2.112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p-value = 0.0351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Since p &lt; 0.05, the effect of Water Scarcity Level is statistically significant at the 5% level, but only marginally.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 : There's some evidence that Water Scarcity Level is positively associated with total water consumption — but the effect is small and not highly robust.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6"/>
          <p:cNvSpPr txBox="1"/>
          <p:nvPr/>
        </p:nvSpPr>
        <p:spPr>
          <a:xfrm>
            <a:off x="470650" y="347400"/>
            <a:ext cx="80907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R-squared</a:t>
            </a:r>
            <a:endParaRPr b="1" sz="21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Multiple R-squared = 0.008881 (less than 1%)</a:t>
            </a:r>
            <a:b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Adjusted R-squared = 0.006891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This means that only ~0.9% of the variation in Total Water Consumption is explained by Water Scarcity Level. Statistically significant, but not practically useful alone.</a:t>
            </a:r>
            <a:b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Water scarcity explains very little of the behavior of water consumption in the data.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Residual Standard Error &amp; F-test</a:t>
            </a:r>
            <a:endParaRPr b="1" sz="21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Residual Std. Error = 95.75 → moderately large spread in errors</a:t>
            </a:r>
            <a:b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F-statistic = 4.462, p-value = 0.03514</a:t>
            </a:r>
            <a:b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→ model is significant (barely), confirming the t-test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52400"/>
            <a:ext cx="796369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8"/>
          <p:cNvSpPr txBox="1"/>
          <p:nvPr/>
        </p:nvSpPr>
        <p:spPr>
          <a:xfrm>
            <a:off x="627525" y="284400"/>
            <a:ext cx="7989900" cy="42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T</a:t>
            </a: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his boxplot compares Total Water Consumption across countries with different Water Scarcity Levels.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We observe that: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Countries with Moderate scarcity have a wide range of water use, including some of the highest consumption outliers.</a:t>
            </a:r>
            <a:b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median water consumption appears similar across groups, but variability is larger for Moderate scarcity.</a:t>
            </a:r>
            <a:b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Despite expectations, countries with High scarcity (if present) may not necessarily use less water — potentially due to high demand or poor efficiency.</a:t>
            </a:r>
            <a:b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This supports our regression finding that Water Scarcity Level is statistically significant, though more factors may influence consumption.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25" y="347375"/>
            <a:ext cx="4927999" cy="30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59"/>
          <p:cNvSpPr txBox="1"/>
          <p:nvPr/>
        </p:nvSpPr>
        <p:spPr>
          <a:xfrm>
            <a:off x="5468475" y="347375"/>
            <a:ext cx="34401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Total Water Consumption Over Time (2000–2024)</a:t>
            </a:r>
            <a:endParaRPr b="1" sz="19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2000–2008: Greatest spread (IQR) and both extreme low (~130 bcm) and high (~800 bcm) outliers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2009–2016: Spread remains similar, fewer extreme lows, consumption more clustered around the median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2017–2024: Slightly narrower IQR, low-end outliers persist, high-end variability reduced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3" name="Google Shape;353;p59"/>
          <p:cNvSpPr txBox="1"/>
          <p:nvPr/>
        </p:nvSpPr>
        <p:spPr>
          <a:xfrm>
            <a:off x="235325" y="3485025"/>
            <a:ext cx="8673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Overall Interpretation</a:t>
            </a:r>
            <a:endParaRPr b="1"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Water use peaked in the mid-period (2009–2016) and has shown a modest decline since 2017</a:t>
            </a:r>
            <a:b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Despite slight fluctuations, total consumption remains relatively stable around 500 bcm</a:t>
            </a:r>
            <a:b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Outliers suggest occasional spikes or drops—potentially driven by droughts, policy changes, or data anomalies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25" y="527025"/>
            <a:ext cx="7645549" cy="419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1"/>
          <p:cNvSpPr txBox="1"/>
          <p:nvPr/>
        </p:nvSpPr>
        <p:spPr>
          <a:xfrm>
            <a:off x="672350" y="235325"/>
            <a:ext cx="71604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Sector-Based Predictors of Water Consumption</a:t>
            </a:r>
            <a:endParaRPr b="1"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previous scatter</a:t>
            </a: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plots show how </a:t>
            </a: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agricultural</a:t>
            </a: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industrial</a:t>
            </a: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, and </a:t>
            </a: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household water use</a:t>
            </a: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relate to </a:t>
            </a: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total water consumption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Agricultural Water Use</a:t>
            </a:r>
            <a:endParaRPr b="1"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swald"/>
              <a:buChar char="●"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Points are densely packed around the mean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Interpretation: Agricultural usage percentages vary, but they </a:t>
            </a: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don’t significantly influence</a:t>
            </a: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total consumption in a linear way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Industrial Water Use</a:t>
            </a:r>
            <a:endParaRPr b="1"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Slight upward green trend line → </a:t>
            </a: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weak positive association</a:t>
            </a:r>
            <a:endParaRPr b="1"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Interpretation: As industrial use increases, total water consumption </a:t>
            </a: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may slightly increase</a:t>
            </a: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, though the effect is minimal</a:t>
            </a: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Household Water Use</a:t>
            </a:r>
            <a:endParaRPr b="1"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Slight downward blue trend line → </a:t>
            </a: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very weak or no linear pattern</a:t>
            </a:r>
            <a:endParaRPr b="1"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Interpretation: Higher household water use </a:t>
            </a:r>
            <a:r>
              <a:rPr b="1"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doesn't strongly predict</a:t>
            </a:r>
            <a: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total consumption either</a:t>
            </a:r>
            <a:br>
              <a:rPr lang="en" sz="13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3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250" y="296575"/>
            <a:ext cx="5209924" cy="3215276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62"/>
          <p:cNvSpPr txBox="1"/>
          <p:nvPr/>
        </p:nvSpPr>
        <p:spPr>
          <a:xfrm>
            <a:off x="5327125" y="417100"/>
            <a:ext cx="3036900" cy="52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scatter plot shows a weak relationship between rainfall and groundwater depletion, indicated by the flat trend line. 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Rainfall explains little of the variation in depletion, suggesting other factors like water use or policy are more impactful.</a:t>
            </a:r>
            <a:endParaRPr sz="11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dense clustering of points suggests consistent groundwater usage patterns, regardless of natural rainfall variability.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70" name="Google Shape;370;p62"/>
          <p:cNvSpPr txBox="1"/>
          <p:nvPr/>
        </p:nvSpPr>
        <p:spPr>
          <a:xfrm>
            <a:off x="5801500" y="139025"/>
            <a:ext cx="32160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Rainfall vs. Groundwater Depletion</a:t>
            </a:r>
            <a:endParaRPr b="1"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371" name="Google Shape;371;p62"/>
          <p:cNvSpPr txBox="1"/>
          <p:nvPr/>
        </p:nvSpPr>
        <p:spPr>
          <a:xfrm>
            <a:off x="-214800" y="3595750"/>
            <a:ext cx="58218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Across rainfall values (800–2500 mm), groundwater depletion stays fairly consistent (5–30 billion m³). Even with high rainfall (~2000+ mm), depletion doesn’t drop significantly, reinforcing that rainfall isn’t too strong of a predictor of groundwater trends.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3"/>
          <p:cNvSpPr txBox="1"/>
          <p:nvPr/>
        </p:nvSpPr>
        <p:spPr>
          <a:xfrm>
            <a:off x="327300" y="197550"/>
            <a:ext cx="84894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Real-World Factors Likely Missing from Our Data:</a:t>
            </a:r>
            <a:endParaRPr b="1"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Government policy: Subsidies, water pricing, or conservation programs can drastically shape consumption.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Cultural habits: Differences in water use behaviors (e.g., industrial vs. domestic priorities) vary across regions.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Infrastructure quality: Leakage, inefficiency, and distribution systems impact usage but weren’t measured.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Geopolitical access: Cross-border rivers, conflict zones, and trade agreements affect availability and usage.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Why Quantitative Inputs Weren’t Enough: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While we included agricultural, industrial, and household consumption rates, these values don’t capture how resources are managed or how demand is constrained.</a:t>
            </a:r>
            <a:b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Additionally, climate and rainfall alone don’t explain use if storage and access are unequal.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Understanding global water use requires combining quantitative data with contextual, policy, and behavioral insights — which opens up opportunities for further research beyond this model.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4"/>
          <p:cNvSpPr txBox="1"/>
          <p:nvPr>
            <p:ph type="title"/>
          </p:nvPr>
        </p:nvSpPr>
        <p:spPr>
          <a:xfrm>
            <a:off x="1591225" y="3018900"/>
            <a:ext cx="5748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research &amp; conclusion</a:t>
            </a:r>
            <a:endParaRPr/>
          </a:p>
        </p:txBody>
      </p:sp>
      <p:sp>
        <p:nvSpPr>
          <p:cNvPr id="382" name="Google Shape;382;p64"/>
          <p:cNvSpPr txBox="1"/>
          <p:nvPr>
            <p:ph idx="2" type="title"/>
          </p:nvPr>
        </p:nvSpPr>
        <p:spPr>
          <a:xfrm>
            <a:off x="1843825" y="1466075"/>
            <a:ext cx="5243400" cy="14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5"/>
          <p:cNvSpPr txBox="1"/>
          <p:nvPr/>
        </p:nvSpPr>
        <p:spPr>
          <a:xfrm>
            <a:off x="264675" y="292425"/>
            <a:ext cx="3444900" cy="4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388" name="Google Shape;388;p65"/>
          <p:cNvSpPr txBox="1"/>
          <p:nvPr/>
        </p:nvSpPr>
        <p:spPr>
          <a:xfrm>
            <a:off x="4596300" y="728275"/>
            <a:ext cx="4395300" cy="3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For </a:t>
            </a:r>
            <a:r>
              <a:rPr lang="en" sz="20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Future Research : </a:t>
            </a:r>
            <a:endParaRPr sz="20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Integrate policy and infrastructure data (e.g., water pricing, access, leak rates) to capture how water is managed in practice.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Include population and economic indicators to better represent demand-side pressure.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Explore nonlinear models or machine learning approaches that may uncover more complex relationships between predictors.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Collect county-level case studies or regional datasets with higher resolution to explore patterns in smaller geographic units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89" name="Google Shape;389;p65"/>
          <p:cNvSpPr txBox="1"/>
          <p:nvPr/>
        </p:nvSpPr>
        <p:spPr>
          <a:xfrm>
            <a:off x="36075" y="652075"/>
            <a:ext cx="4235400" cy="3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Conclusion : </a:t>
            </a:r>
            <a:endParaRPr sz="20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Our analysis revealed that Water Scarcity Level was the only statistically significant predictor of total water consumption, though its effect was small and not highly practical.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Most other variables — including rainfall, sector-based use, and time — showed no strong linear relationships, and the regression model explained less than 1% of variation.</a:t>
            </a:r>
            <a:endParaRPr sz="15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Despite this, the project highlights the importance of asking the right questions and confirms that quantitative metrics alone are insufficient to explain global water usage patterns.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6"/>
          <p:cNvSpPr txBox="1"/>
          <p:nvPr/>
        </p:nvSpPr>
        <p:spPr>
          <a:xfrm>
            <a:off x="2153475" y="2007625"/>
            <a:ext cx="6244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Thanks for listening !</a:t>
            </a:r>
            <a:endParaRPr sz="43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ater Resourc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B2E2E3"/>
      </a:accent1>
      <a:accent2>
        <a:srgbClr val="5BB8BB"/>
      </a:accent2>
      <a:accent3>
        <a:srgbClr val="5EDBEF"/>
      </a:accent3>
      <a:accent4>
        <a:srgbClr val="6DCFD1"/>
      </a:accent4>
      <a:accent5>
        <a:srgbClr val="0097A7"/>
      </a:accent5>
      <a:accent6>
        <a:srgbClr val="00C3B1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